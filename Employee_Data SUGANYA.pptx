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64" r:id="rId1"/>
  </p:sldMasterIdLst>
  <p:notesMasterIdLst>
    <p:notesMasterId r:id="rId13"/>
  </p:notesMasterIdLst>
  <p:sldIdLst>
    <p:sldId id="256" r:id="rId2"/>
    <p:sldId id="257" r:id="rId3"/>
    <p:sldId id="258" r:id="rId4"/>
    <p:sldId id="259" r:id="rId5"/>
    <p:sldId id="260" r:id="rId6"/>
    <p:sldId id="261" r:id="rId7"/>
    <p:sldId id="262" r:id="rId8"/>
    <p:sldId id="269" r:id="rId9"/>
    <p:sldId id="263" r:id="rId10"/>
    <p:sldId id="265" r:id="rId11"/>
    <p:sldId id="268" r:id="rId12"/>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75"/>
    <p:restoredTop sz="94710"/>
  </p:normalViewPr>
  <p:slideViewPr>
    <p:cSldViewPr>
      <p:cViewPr>
        <p:scale>
          <a:sx n="127" d="100"/>
          <a:sy n="127" d="100"/>
        </p:scale>
        <p:origin x="856" y="6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charts/_rels/chart1.xml.rels><?xml version="1.0" encoding="UTF-8" standalone="yes"?>
<Relationships xmlns="http://schemas.openxmlformats.org/package/2006/relationships"><Relationship Id="rId1" Type="http://schemas.openxmlformats.org/officeDocument/2006/relationships/oleObject" Target="file:///Users/mp5464715gmail.com/Desktop/employee_data%20maddy.xlsx" TargetMode="External" /></Relationships>
</file>

<file path=ppt/charts/_rels/chart2.xml.rels><?xml version="1.0" encoding="UTF-8" standalone="yes"?>
<Relationships xmlns="http://schemas.openxmlformats.org/package/2006/relationships"><Relationship Id="rId3" Type="http://schemas.openxmlformats.org/officeDocument/2006/relationships/oleObject" Target="file:///Users/mp5464715gmail.com/Desktop/employee_data%20maddy.xlsx" TargetMode="External" /><Relationship Id="rId2" Type="http://schemas.microsoft.com/office/2011/relationships/chartColorStyle" Target="colors1.xml" /><Relationship Id="rId1" Type="http://schemas.microsoft.com/office/2011/relationships/chartStyle" Target="style1.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[employee_data maddy.xlsx]Sheet1!PivotTable1</c:name>
    <c:fmtId val="7"/>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a:t>EMPLOYEE</a:t>
            </a:r>
            <a:r>
              <a:rPr lang="en-GB" baseline="0"/>
              <a:t> PERFORMANCE ANALYSIS</a:t>
            </a:r>
            <a:endParaRPr lang="en-GB"/>
          </a:p>
        </c:rich>
      </c:tx>
      <c:overlay val="0"/>
      <c:spPr>
        <a:noFill/>
        <a:ln>
          <a:noFill/>
        </a:ln>
        <a:effectLst/>
      </c:sp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2"/>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3"/>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7"/>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1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
        <c:idx val="11"/>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delete val="1"/>
          <c:extLst>
            <c:ext xmlns:c15="http://schemas.microsoft.com/office/drawing/2012/chart" uri="{CE6537A1-D6FC-4f65-9D91-7224C49458BB}"/>
          </c:extLst>
        </c:dLbl>
      </c:pivotFmt>
    </c:pivotFmts>
    <c:plotArea>
      <c:layout/>
      <c:barChart>
        <c:barDir val="col"/>
        <c:grouping val="clustered"/>
        <c:varyColors val="0"/>
        <c:ser>
          <c:idx val="0"/>
          <c:order val="0"/>
          <c:tx>
            <c:strRef>
              <c:f>Sheet1!$B$3:$B$4</c:f>
              <c:strCache>
                <c:ptCount val="1"/>
                <c:pt idx="0">
                  <c:v>HIGH</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Sheet1!$B$5:$B$15</c:f>
              <c:numCache>
                <c:formatCode>General</c:formatCode>
                <c:ptCount val="10"/>
                <c:pt idx="0">
                  <c:v>3</c:v>
                </c:pt>
                <c:pt idx="1">
                  <c:v>6</c:v>
                </c:pt>
                <c:pt idx="2">
                  <c:v>9</c:v>
                </c:pt>
                <c:pt idx="3">
                  <c:v>8</c:v>
                </c:pt>
                <c:pt idx="4">
                  <c:v>9</c:v>
                </c:pt>
                <c:pt idx="5">
                  <c:v>9</c:v>
                </c:pt>
                <c:pt idx="6">
                  <c:v>8</c:v>
                </c:pt>
                <c:pt idx="7">
                  <c:v>7</c:v>
                </c:pt>
                <c:pt idx="8">
                  <c:v>3</c:v>
                </c:pt>
                <c:pt idx="9">
                  <c:v>6</c:v>
                </c:pt>
              </c:numCache>
            </c:numRef>
          </c:val>
          <c:extLst>
            <c:ext xmlns:c16="http://schemas.microsoft.com/office/drawing/2014/chart" uri="{C3380CC4-5D6E-409C-BE32-E72D297353CC}">
              <c16:uniqueId val="{00000000-3E6D-6348-92A9-172A7E652839}"/>
            </c:ext>
          </c:extLst>
        </c:ser>
        <c:ser>
          <c:idx val="1"/>
          <c:order val="1"/>
          <c:tx>
            <c:strRef>
              <c:f>Sheet1!$C$3:$C$4</c:f>
              <c:strCache>
                <c:ptCount val="1"/>
                <c:pt idx="0">
                  <c:v>LOW</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Sheet1!$C$5:$C$15</c:f>
              <c:numCache>
                <c:formatCode>General</c:formatCode>
                <c:ptCount val="10"/>
                <c:pt idx="0">
                  <c:v>6</c:v>
                </c:pt>
                <c:pt idx="1">
                  <c:v>17</c:v>
                </c:pt>
                <c:pt idx="2">
                  <c:v>14</c:v>
                </c:pt>
                <c:pt idx="3">
                  <c:v>15</c:v>
                </c:pt>
                <c:pt idx="4">
                  <c:v>18</c:v>
                </c:pt>
                <c:pt idx="5">
                  <c:v>8</c:v>
                </c:pt>
                <c:pt idx="6">
                  <c:v>10</c:v>
                </c:pt>
                <c:pt idx="7">
                  <c:v>15</c:v>
                </c:pt>
                <c:pt idx="8">
                  <c:v>14</c:v>
                </c:pt>
                <c:pt idx="9">
                  <c:v>13</c:v>
                </c:pt>
              </c:numCache>
            </c:numRef>
          </c:val>
          <c:extLst>
            <c:ext xmlns:c16="http://schemas.microsoft.com/office/drawing/2014/chart" uri="{C3380CC4-5D6E-409C-BE32-E72D297353CC}">
              <c16:uniqueId val="{00000001-3E6D-6348-92A9-172A7E652839}"/>
            </c:ext>
          </c:extLst>
        </c:ser>
        <c:ser>
          <c:idx val="2"/>
          <c:order val="2"/>
          <c:tx>
            <c:strRef>
              <c:f>Sheet1!$D$3:$D$4</c:f>
              <c:strCache>
                <c:ptCount val="1"/>
                <c:pt idx="0">
                  <c:v>MED</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trendline>
            <c:spPr>
              <a:ln w="19050" cap="rnd">
                <a:solidFill>
                  <a:schemeClr val="accent3"/>
                </a:solidFill>
              </a:ln>
              <a:effectLst/>
            </c:spPr>
            <c:trendlineType val="linear"/>
            <c:dispRSqr val="0"/>
            <c:dispEq val="0"/>
          </c:trendline>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Sheet1!$D$5:$D$15</c:f>
              <c:numCache>
                <c:formatCode>General</c:formatCode>
                <c:ptCount val="10"/>
                <c:pt idx="0">
                  <c:v>26</c:v>
                </c:pt>
                <c:pt idx="1">
                  <c:v>22</c:v>
                </c:pt>
                <c:pt idx="2">
                  <c:v>24</c:v>
                </c:pt>
                <c:pt idx="3">
                  <c:v>31</c:v>
                </c:pt>
                <c:pt idx="4">
                  <c:v>30</c:v>
                </c:pt>
                <c:pt idx="5">
                  <c:v>23</c:v>
                </c:pt>
                <c:pt idx="6">
                  <c:v>19</c:v>
                </c:pt>
                <c:pt idx="7">
                  <c:v>30</c:v>
                </c:pt>
                <c:pt idx="8">
                  <c:v>25</c:v>
                </c:pt>
                <c:pt idx="9">
                  <c:v>33</c:v>
                </c:pt>
              </c:numCache>
            </c:numRef>
          </c:val>
          <c:extLst>
            <c:ext xmlns:c16="http://schemas.microsoft.com/office/drawing/2014/chart" uri="{C3380CC4-5D6E-409C-BE32-E72D297353CC}">
              <c16:uniqueId val="{00000003-3E6D-6348-92A9-172A7E652839}"/>
            </c:ext>
          </c:extLst>
        </c:ser>
        <c:ser>
          <c:idx val="3"/>
          <c:order val="3"/>
          <c:tx>
            <c:strRef>
              <c:f>Sheet1!$E$3:$E$4</c:f>
              <c:strCache>
                <c:ptCount val="1"/>
                <c:pt idx="0">
                  <c:v>VERY HIGH</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Sheet1!$E$5:$E$15</c:f>
              <c:numCache>
                <c:formatCode>General</c:formatCode>
                <c:ptCount val="10"/>
                <c:pt idx="0">
                  <c:v>3</c:v>
                </c:pt>
                <c:pt idx="1">
                  <c:v>3</c:v>
                </c:pt>
                <c:pt idx="2">
                  <c:v>5</c:v>
                </c:pt>
                <c:pt idx="3">
                  <c:v>3</c:v>
                </c:pt>
                <c:pt idx="4">
                  <c:v>7</c:v>
                </c:pt>
                <c:pt idx="5">
                  <c:v>7</c:v>
                </c:pt>
                <c:pt idx="6">
                  <c:v>5</c:v>
                </c:pt>
                <c:pt idx="7">
                  <c:v>5</c:v>
                </c:pt>
                <c:pt idx="8">
                  <c:v>9</c:v>
                </c:pt>
                <c:pt idx="9">
                  <c:v>6</c:v>
                </c:pt>
              </c:numCache>
            </c:numRef>
          </c:val>
          <c:extLst>
            <c:ext xmlns:c16="http://schemas.microsoft.com/office/drawing/2014/chart" uri="{C3380CC4-5D6E-409C-BE32-E72D297353CC}">
              <c16:uniqueId val="{00000004-3E6D-6348-92A9-172A7E652839}"/>
            </c:ext>
          </c:extLst>
        </c:ser>
        <c:dLbls>
          <c:showLegendKey val="0"/>
          <c:showVal val="0"/>
          <c:showCatName val="0"/>
          <c:showSerName val="0"/>
          <c:showPercent val="0"/>
          <c:showBubbleSize val="0"/>
        </c:dLbls>
        <c:gapWidth val="100"/>
        <c:overlap val="-24"/>
        <c:axId val="505974464"/>
        <c:axId val="1"/>
      </c:barChart>
      <c:catAx>
        <c:axId val="50597446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
        <c:crosses val="autoZero"/>
        <c:auto val="0"/>
        <c:lblAlgn val="ctr"/>
        <c:lblOffset val="100"/>
        <c:noMultiLvlLbl val="0"/>
      </c:catAx>
      <c:valAx>
        <c:axId val="1"/>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05974464"/>
        <c:crosses val="autoZero"/>
        <c:crossBetween val="between"/>
      </c:valAx>
      <c:spPr>
        <a:noFill/>
        <a:ln w="25400">
          <a:noFill/>
        </a:ln>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[employee_data maddy.xlsx]Sheet1!PivotTable1</c:name>
    <c:fmtId val="15"/>
  </c:pivotSource>
  <c:chart>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19050">
            <a:solidFill>
              <a:schemeClr val="lt1"/>
            </a:solidFill>
          </a:ln>
          <a:effectLst/>
        </c:spPr>
      </c:pivotFmt>
      <c:pivotFmt>
        <c:idx val="50"/>
        <c:spPr>
          <a:solidFill>
            <a:schemeClr val="accent1"/>
          </a:solidFill>
          <a:ln w="19050">
            <a:solidFill>
              <a:schemeClr val="lt1"/>
            </a:solidFill>
          </a:ln>
          <a:effectLst/>
        </c:spPr>
      </c:pivotFmt>
      <c:pivotFmt>
        <c:idx val="51"/>
        <c:spPr>
          <a:solidFill>
            <a:schemeClr val="accent1"/>
          </a:solidFill>
          <a:ln w="19050">
            <a:solidFill>
              <a:schemeClr val="lt1"/>
            </a:solidFill>
          </a:ln>
          <a:effectLst/>
        </c:spPr>
      </c:pivotFmt>
      <c:pivotFmt>
        <c:idx val="52"/>
        <c:spPr>
          <a:solidFill>
            <a:schemeClr val="accent1"/>
          </a:solidFill>
          <a:ln w="19050">
            <a:solidFill>
              <a:schemeClr val="lt1"/>
            </a:solidFill>
          </a:ln>
          <a:effectLst/>
        </c:spPr>
      </c:pivotFmt>
      <c:pivotFmt>
        <c:idx val="53"/>
        <c:spPr>
          <a:solidFill>
            <a:schemeClr val="accent1"/>
          </a:solidFill>
          <a:ln w="19050">
            <a:solidFill>
              <a:schemeClr val="lt1"/>
            </a:solidFill>
          </a:ln>
          <a:effectLst/>
        </c:spPr>
      </c:pivotFmt>
      <c:pivotFmt>
        <c:idx val="54"/>
        <c:spPr>
          <a:solidFill>
            <a:schemeClr val="accent1"/>
          </a:solidFill>
          <a:ln w="19050">
            <a:solidFill>
              <a:schemeClr val="lt1"/>
            </a:solidFill>
          </a:ln>
          <a:effectLst/>
        </c:spPr>
      </c:pivotFmt>
      <c:pivotFmt>
        <c:idx val="55"/>
        <c:spPr>
          <a:solidFill>
            <a:schemeClr val="accent1"/>
          </a:solidFill>
          <a:ln w="19050">
            <a:solidFill>
              <a:schemeClr val="lt1"/>
            </a:solidFill>
          </a:ln>
          <a:effectLst/>
        </c:spPr>
      </c:pivotFmt>
      <c:pivotFmt>
        <c:idx val="56"/>
        <c:spPr>
          <a:solidFill>
            <a:schemeClr val="accent1"/>
          </a:solidFill>
          <a:ln w="19050">
            <a:solidFill>
              <a:schemeClr val="lt1"/>
            </a:solidFill>
          </a:ln>
          <a:effectLst/>
        </c:spPr>
      </c:pivotFmt>
      <c:pivotFmt>
        <c:idx val="57"/>
        <c:spPr>
          <a:solidFill>
            <a:schemeClr val="accent1"/>
          </a:solidFill>
          <a:ln w="19050">
            <a:solidFill>
              <a:schemeClr val="lt1"/>
            </a:solidFill>
          </a:ln>
          <a:effectLst/>
        </c:spPr>
      </c:pivotFmt>
      <c:pivotFmt>
        <c:idx val="58"/>
        <c:spPr>
          <a:solidFill>
            <a:schemeClr val="accent1"/>
          </a:solidFill>
          <a:ln w="19050">
            <a:solidFill>
              <a:schemeClr val="lt1"/>
            </a:solidFill>
          </a:ln>
          <a:effectLst/>
        </c:spPr>
      </c:pivotFmt>
      <c:pivotFmt>
        <c:idx val="5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19050">
            <a:solidFill>
              <a:schemeClr val="lt1"/>
            </a:solidFill>
          </a:ln>
          <a:effectLst/>
        </c:spPr>
      </c:pivotFmt>
      <c:pivotFmt>
        <c:idx val="61"/>
        <c:spPr>
          <a:solidFill>
            <a:schemeClr val="accent1"/>
          </a:solidFill>
          <a:ln w="19050">
            <a:solidFill>
              <a:schemeClr val="lt1"/>
            </a:solidFill>
          </a:ln>
          <a:effectLst/>
        </c:spPr>
      </c:pivotFmt>
      <c:pivotFmt>
        <c:idx val="62"/>
        <c:spPr>
          <a:solidFill>
            <a:schemeClr val="accent1"/>
          </a:solidFill>
          <a:ln w="19050">
            <a:solidFill>
              <a:schemeClr val="lt1"/>
            </a:solidFill>
          </a:ln>
          <a:effectLst/>
        </c:spPr>
      </c:pivotFmt>
      <c:pivotFmt>
        <c:idx val="63"/>
        <c:spPr>
          <a:solidFill>
            <a:schemeClr val="accent1"/>
          </a:solidFill>
          <a:ln w="19050">
            <a:solidFill>
              <a:schemeClr val="lt1"/>
            </a:solidFill>
          </a:ln>
          <a:effectLst/>
        </c:spPr>
      </c:pivotFmt>
      <c:pivotFmt>
        <c:idx val="64"/>
        <c:spPr>
          <a:solidFill>
            <a:schemeClr val="accent1"/>
          </a:solidFill>
          <a:ln w="19050">
            <a:solidFill>
              <a:schemeClr val="lt1"/>
            </a:solidFill>
          </a:ln>
          <a:effectLst/>
        </c:spPr>
      </c:pivotFmt>
      <c:pivotFmt>
        <c:idx val="65"/>
        <c:spPr>
          <a:solidFill>
            <a:schemeClr val="accent1"/>
          </a:solidFill>
          <a:ln w="19050">
            <a:solidFill>
              <a:schemeClr val="lt1"/>
            </a:solidFill>
          </a:ln>
          <a:effectLst/>
        </c:spPr>
      </c:pivotFmt>
      <c:pivotFmt>
        <c:idx val="66"/>
        <c:spPr>
          <a:solidFill>
            <a:schemeClr val="accent1"/>
          </a:solidFill>
          <a:ln w="19050">
            <a:solidFill>
              <a:schemeClr val="lt1"/>
            </a:solidFill>
          </a:ln>
          <a:effectLst/>
        </c:spPr>
      </c:pivotFmt>
      <c:pivotFmt>
        <c:idx val="67"/>
        <c:spPr>
          <a:solidFill>
            <a:schemeClr val="accent1"/>
          </a:solidFill>
          <a:ln w="19050">
            <a:solidFill>
              <a:schemeClr val="lt1"/>
            </a:solidFill>
          </a:ln>
          <a:effectLst/>
        </c:spPr>
      </c:pivotFmt>
      <c:pivotFmt>
        <c:idx val="68"/>
        <c:spPr>
          <a:solidFill>
            <a:schemeClr val="accent1"/>
          </a:solidFill>
          <a:ln w="19050">
            <a:solidFill>
              <a:schemeClr val="lt1"/>
            </a:solidFill>
          </a:ln>
          <a:effectLst/>
        </c:spPr>
      </c:pivotFmt>
      <c:pivotFmt>
        <c:idx val="69"/>
        <c:spPr>
          <a:solidFill>
            <a:schemeClr val="accent1"/>
          </a:solidFill>
          <a:ln w="19050">
            <a:solidFill>
              <a:schemeClr val="lt1"/>
            </a:solidFill>
          </a:ln>
          <a:effectLst/>
        </c:spPr>
      </c:pivotFmt>
      <c:pivotFmt>
        <c:idx val="7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1"/>
          </a:solidFill>
          <a:ln w="19050">
            <a:solidFill>
              <a:schemeClr val="lt1"/>
            </a:solidFill>
          </a:ln>
          <a:effectLst/>
        </c:spPr>
      </c:pivotFmt>
      <c:pivotFmt>
        <c:idx val="72"/>
        <c:spPr>
          <a:solidFill>
            <a:schemeClr val="accent1"/>
          </a:solidFill>
          <a:ln w="19050">
            <a:solidFill>
              <a:schemeClr val="lt1"/>
            </a:solidFill>
          </a:ln>
          <a:effectLst/>
        </c:spPr>
      </c:pivotFmt>
      <c:pivotFmt>
        <c:idx val="73"/>
        <c:spPr>
          <a:solidFill>
            <a:schemeClr val="accent1"/>
          </a:solidFill>
          <a:ln w="19050">
            <a:solidFill>
              <a:schemeClr val="lt1"/>
            </a:solidFill>
          </a:ln>
          <a:effectLst/>
        </c:spPr>
      </c:pivotFmt>
      <c:pivotFmt>
        <c:idx val="74"/>
        <c:spPr>
          <a:solidFill>
            <a:schemeClr val="accent1"/>
          </a:solidFill>
          <a:ln w="19050">
            <a:solidFill>
              <a:schemeClr val="lt1"/>
            </a:solidFill>
          </a:ln>
          <a:effectLst/>
        </c:spPr>
      </c:pivotFmt>
      <c:pivotFmt>
        <c:idx val="75"/>
        <c:spPr>
          <a:solidFill>
            <a:schemeClr val="accent1"/>
          </a:solidFill>
          <a:ln w="19050">
            <a:solidFill>
              <a:schemeClr val="lt1"/>
            </a:solidFill>
          </a:ln>
          <a:effectLst/>
        </c:spPr>
      </c:pivotFmt>
      <c:pivotFmt>
        <c:idx val="76"/>
        <c:spPr>
          <a:solidFill>
            <a:schemeClr val="accent1"/>
          </a:solidFill>
          <a:ln w="19050">
            <a:solidFill>
              <a:schemeClr val="lt1"/>
            </a:solidFill>
          </a:ln>
          <a:effectLst/>
        </c:spPr>
      </c:pivotFmt>
      <c:pivotFmt>
        <c:idx val="77"/>
        <c:spPr>
          <a:solidFill>
            <a:schemeClr val="accent1"/>
          </a:solidFill>
          <a:ln w="19050">
            <a:solidFill>
              <a:schemeClr val="lt1"/>
            </a:solidFill>
          </a:ln>
          <a:effectLst/>
        </c:spPr>
      </c:pivotFmt>
      <c:pivotFmt>
        <c:idx val="78"/>
        <c:spPr>
          <a:solidFill>
            <a:schemeClr val="accent1"/>
          </a:solidFill>
          <a:ln w="19050">
            <a:solidFill>
              <a:schemeClr val="lt1"/>
            </a:solidFill>
          </a:ln>
          <a:effectLst/>
        </c:spPr>
      </c:pivotFmt>
      <c:pivotFmt>
        <c:idx val="79"/>
        <c:spPr>
          <a:solidFill>
            <a:schemeClr val="accent1"/>
          </a:solidFill>
          <a:ln w="19050">
            <a:solidFill>
              <a:schemeClr val="lt1"/>
            </a:solidFill>
          </a:ln>
          <a:effectLst/>
        </c:spPr>
      </c:pivotFmt>
      <c:pivotFmt>
        <c:idx val="80"/>
        <c:spPr>
          <a:solidFill>
            <a:schemeClr val="accent1"/>
          </a:solidFill>
          <a:ln w="19050">
            <a:solidFill>
              <a:schemeClr val="lt1"/>
            </a:solidFill>
          </a:ln>
          <a:effectLst/>
        </c:spPr>
      </c:pivotFmt>
      <c:pivotFmt>
        <c:idx val="8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2"/>
        <c:spPr>
          <a:solidFill>
            <a:schemeClr val="accent1"/>
          </a:solidFill>
          <a:ln w="19050">
            <a:solidFill>
              <a:schemeClr val="lt1"/>
            </a:solidFill>
          </a:ln>
          <a:effectLst/>
        </c:spPr>
      </c:pivotFmt>
      <c:pivotFmt>
        <c:idx val="83"/>
        <c:spPr>
          <a:solidFill>
            <a:schemeClr val="accent1"/>
          </a:solidFill>
          <a:ln w="19050">
            <a:solidFill>
              <a:schemeClr val="lt1"/>
            </a:solidFill>
          </a:ln>
          <a:effectLst/>
        </c:spPr>
      </c:pivotFmt>
      <c:pivotFmt>
        <c:idx val="84"/>
        <c:spPr>
          <a:solidFill>
            <a:schemeClr val="accent1"/>
          </a:solidFill>
          <a:ln w="19050">
            <a:solidFill>
              <a:schemeClr val="lt1"/>
            </a:solidFill>
          </a:ln>
          <a:effectLst/>
        </c:spPr>
      </c:pivotFmt>
      <c:pivotFmt>
        <c:idx val="85"/>
        <c:spPr>
          <a:solidFill>
            <a:schemeClr val="accent1"/>
          </a:solidFill>
          <a:ln w="19050">
            <a:solidFill>
              <a:schemeClr val="lt1"/>
            </a:solidFill>
          </a:ln>
          <a:effectLst/>
        </c:spPr>
      </c:pivotFmt>
      <c:pivotFmt>
        <c:idx val="86"/>
        <c:spPr>
          <a:solidFill>
            <a:schemeClr val="accent1"/>
          </a:solidFill>
          <a:ln w="19050">
            <a:solidFill>
              <a:schemeClr val="lt1"/>
            </a:solidFill>
          </a:ln>
          <a:effectLst/>
        </c:spPr>
      </c:pivotFmt>
      <c:pivotFmt>
        <c:idx val="87"/>
        <c:spPr>
          <a:solidFill>
            <a:schemeClr val="accent1"/>
          </a:solidFill>
          <a:ln w="19050">
            <a:solidFill>
              <a:schemeClr val="lt1"/>
            </a:solidFill>
          </a:ln>
          <a:effectLst/>
        </c:spPr>
      </c:pivotFmt>
      <c:pivotFmt>
        <c:idx val="88"/>
        <c:spPr>
          <a:solidFill>
            <a:schemeClr val="accent1"/>
          </a:solidFill>
          <a:ln w="19050">
            <a:solidFill>
              <a:schemeClr val="lt1"/>
            </a:solidFill>
          </a:ln>
          <a:effectLst/>
        </c:spPr>
      </c:pivotFmt>
      <c:pivotFmt>
        <c:idx val="89"/>
        <c:spPr>
          <a:solidFill>
            <a:schemeClr val="accent1"/>
          </a:solidFill>
          <a:ln w="19050">
            <a:solidFill>
              <a:schemeClr val="lt1"/>
            </a:solidFill>
          </a:ln>
          <a:effectLst/>
        </c:spPr>
      </c:pivotFmt>
      <c:pivotFmt>
        <c:idx val="90"/>
        <c:spPr>
          <a:solidFill>
            <a:schemeClr val="accent1"/>
          </a:solidFill>
          <a:ln w="19050">
            <a:solidFill>
              <a:schemeClr val="lt1"/>
            </a:solidFill>
          </a:ln>
          <a:effectLst/>
        </c:spPr>
      </c:pivotFmt>
      <c:pivotFmt>
        <c:idx val="91"/>
        <c:spPr>
          <a:solidFill>
            <a:schemeClr val="accent1"/>
          </a:solidFill>
          <a:ln w="19050">
            <a:solidFill>
              <a:schemeClr val="lt1"/>
            </a:solidFill>
          </a:ln>
          <a:effectLst/>
        </c:spPr>
      </c:pivotFmt>
    </c:pivotFmts>
    <c:plotArea>
      <c:layout>
        <c:manualLayout>
          <c:layoutTarget val="inner"/>
          <c:xMode val="edge"/>
          <c:yMode val="edge"/>
          <c:x val="5.8230025025941518E-2"/>
          <c:y val="9.2592592592592587E-3"/>
          <c:w val="0.79457364341085268"/>
          <c:h val="0.94907407407407407"/>
        </c:manualLayout>
      </c:layout>
      <c:doughnutChart>
        <c:varyColors val="1"/>
        <c:ser>
          <c:idx val="0"/>
          <c:order val="0"/>
          <c:tx>
            <c:strRef>
              <c:f>Sheet1!$B$3:$B$4</c:f>
              <c:strCache>
                <c:ptCount val="1"/>
                <c:pt idx="0">
                  <c:v>HIGH</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F36-7340-945E-930D095CBA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F36-7340-945E-930D095CBA3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F36-7340-945E-930D095CBA3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F36-7340-945E-930D095CBA3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F36-7340-945E-930D095CBA3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F36-7340-945E-930D095CBA3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0F36-7340-945E-930D095CBA3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0F36-7340-945E-930D095CBA3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0F36-7340-945E-930D095CBA33}"/>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0F36-7340-945E-930D095CBA33}"/>
              </c:ext>
            </c:extLst>
          </c:dPt>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Sheet1!$B$5:$B$15</c:f>
              <c:numCache>
                <c:formatCode>General</c:formatCode>
                <c:ptCount val="10"/>
                <c:pt idx="0">
                  <c:v>3</c:v>
                </c:pt>
                <c:pt idx="1">
                  <c:v>6</c:v>
                </c:pt>
                <c:pt idx="2">
                  <c:v>9</c:v>
                </c:pt>
                <c:pt idx="3">
                  <c:v>8</c:v>
                </c:pt>
                <c:pt idx="4">
                  <c:v>9</c:v>
                </c:pt>
                <c:pt idx="5">
                  <c:v>9</c:v>
                </c:pt>
                <c:pt idx="6">
                  <c:v>8</c:v>
                </c:pt>
                <c:pt idx="7">
                  <c:v>7</c:v>
                </c:pt>
                <c:pt idx="8">
                  <c:v>3</c:v>
                </c:pt>
                <c:pt idx="9">
                  <c:v>6</c:v>
                </c:pt>
              </c:numCache>
            </c:numRef>
          </c:val>
          <c:extLst>
            <c:ext xmlns:c16="http://schemas.microsoft.com/office/drawing/2014/chart" uri="{C3380CC4-5D6E-409C-BE32-E72D297353CC}">
              <c16:uniqueId val="{00000014-0F36-7340-945E-930D095CBA33}"/>
            </c:ext>
          </c:extLst>
        </c:ser>
        <c:ser>
          <c:idx val="1"/>
          <c:order val="1"/>
          <c:tx>
            <c:strRef>
              <c:f>Sheet1!$C$3:$C$4</c:f>
              <c:strCache>
                <c:ptCount val="1"/>
                <c:pt idx="0">
                  <c:v>LOW</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6-0F36-7340-945E-930D095CBA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8-0F36-7340-945E-930D095CBA3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A-0F36-7340-945E-930D095CBA3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C-0F36-7340-945E-930D095CBA3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E-0F36-7340-945E-930D095CBA3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20-0F36-7340-945E-930D095CBA3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22-0F36-7340-945E-930D095CBA3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24-0F36-7340-945E-930D095CBA3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26-0F36-7340-945E-930D095CBA33}"/>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28-0F36-7340-945E-930D095CBA33}"/>
              </c:ext>
            </c:extLst>
          </c:dPt>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Sheet1!$C$5:$C$15</c:f>
              <c:numCache>
                <c:formatCode>General</c:formatCode>
                <c:ptCount val="10"/>
                <c:pt idx="0">
                  <c:v>6</c:v>
                </c:pt>
                <c:pt idx="1">
                  <c:v>17</c:v>
                </c:pt>
                <c:pt idx="2">
                  <c:v>14</c:v>
                </c:pt>
                <c:pt idx="3">
                  <c:v>15</c:v>
                </c:pt>
                <c:pt idx="4">
                  <c:v>18</c:v>
                </c:pt>
                <c:pt idx="5">
                  <c:v>8</c:v>
                </c:pt>
                <c:pt idx="6">
                  <c:v>10</c:v>
                </c:pt>
                <c:pt idx="7">
                  <c:v>15</c:v>
                </c:pt>
                <c:pt idx="8">
                  <c:v>14</c:v>
                </c:pt>
                <c:pt idx="9">
                  <c:v>13</c:v>
                </c:pt>
              </c:numCache>
            </c:numRef>
          </c:val>
          <c:extLst>
            <c:ext xmlns:c16="http://schemas.microsoft.com/office/drawing/2014/chart" uri="{C3380CC4-5D6E-409C-BE32-E72D297353CC}">
              <c16:uniqueId val="{00000029-0F36-7340-945E-930D095CBA33}"/>
            </c:ext>
          </c:extLst>
        </c:ser>
        <c:ser>
          <c:idx val="2"/>
          <c:order val="2"/>
          <c:tx>
            <c:strRef>
              <c:f>Sheet1!$D$3:$D$4</c:f>
              <c:strCache>
                <c:ptCount val="1"/>
                <c:pt idx="0">
                  <c:v>MED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2B-0F36-7340-945E-930D095CBA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2D-0F36-7340-945E-930D095CBA3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2F-0F36-7340-945E-930D095CBA3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31-0F36-7340-945E-930D095CBA3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33-0F36-7340-945E-930D095CBA3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35-0F36-7340-945E-930D095CBA3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37-0F36-7340-945E-930D095CBA3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39-0F36-7340-945E-930D095CBA3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3B-0F36-7340-945E-930D095CBA33}"/>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3D-0F36-7340-945E-930D095CBA33}"/>
              </c:ext>
            </c:extLst>
          </c:dPt>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Sheet1!$D$5:$D$15</c:f>
              <c:numCache>
                <c:formatCode>General</c:formatCode>
                <c:ptCount val="10"/>
                <c:pt idx="0">
                  <c:v>26</c:v>
                </c:pt>
                <c:pt idx="1">
                  <c:v>22</c:v>
                </c:pt>
                <c:pt idx="2">
                  <c:v>24</c:v>
                </c:pt>
                <c:pt idx="3">
                  <c:v>31</c:v>
                </c:pt>
                <c:pt idx="4">
                  <c:v>30</c:v>
                </c:pt>
                <c:pt idx="5">
                  <c:v>23</c:v>
                </c:pt>
                <c:pt idx="6">
                  <c:v>19</c:v>
                </c:pt>
                <c:pt idx="7">
                  <c:v>30</c:v>
                </c:pt>
                <c:pt idx="8">
                  <c:v>25</c:v>
                </c:pt>
                <c:pt idx="9">
                  <c:v>33</c:v>
                </c:pt>
              </c:numCache>
            </c:numRef>
          </c:val>
          <c:extLst>
            <c:ext xmlns:c16="http://schemas.microsoft.com/office/drawing/2014/chart" uri="{C3380CC4-5D6E-409C-BE32-E72D297353CC}">
              <c16:uniqueId val="{0000003E-0F36-7340-945E-930D095CBA33}"/>
            </c:ext>
          </c:extLst>
        </c:ser>
        <c:ser>
          <c:idx val="3"/>
          <c:order val="3"/>
          <c:tx>
            <c:strRef>
              <c:f>Sheet1!$E$3:$E$4</c:f>
              <c:strCache>
                <c:ptCount val="1"/>
                <c:pt idx="0">
                  <c:v>VERY HIGH</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40-0F36-7340-945E-930D095CBA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42-0F36-7340-945E-930D095CBA3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44-0F36-7340-945E-930D095CBA3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46-0F36-7340-945E-930D095CBA3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48-0F36-7340-945E-930D095CBA3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4A-0F36-7340-945E-930D095CBA3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4C-0F36-7340-945E-930D095CBA3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4E-0F36-7340-945E-930D095CBA3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50-0F36-7340-945E-930D095CBA33}"/>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52-0F36-7340-945E-930D095CBA33}"/>
              </c:ext>
            </c:extLst>
          </c:dPt>
          <c:cat>
            <c:strRef>
              <c:f>Sheet1!$A$5:$A$15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Sheet1!$E$5:$E$15</c:f>
              <c:numCache>
                <c:formatCode>General</c:formatCode>
                <c:ptCount val="10"/>
                <c:pt idx="0">
                  <c:v>3</c:v>
                </c:pt>
                <c:pt idx="1">
                  <c:v>3</c:v>
                </c:pt>
                <c:pt idx="2">
                  <c:v>5</c:v>
                </c:pt>
                <c:pt idx="3">
                  <c:v>3</c:v>
                </c:pt>
                <c:pt idx="4">
                  <c:v>7</c:v>
                </c:pt>
                <c:pt idx="5">
                  <c:v>7</c:v>
                </c:pt>
                <c:pt idx="6">
                  <c:v>5</c:v>
                </c:pt>
                <c:pt idx="7">
                  <c:v>5</c:v>
                </c:pt>
                <c:pt idx="8">
                  <c:v>9</c:v>
                </c:pt>
                <c:pt idx="9">
                  <c:v>6</c:v>
                </c:pt>
              </c:numCache>
            </c:numRef>
          </c:val>
          <c:extLst>
            <c:ext xmlns:c16="http://schemas.microsoft.com/office/drawing/2014/chart" uri="{C3380CC4-5D6E-409C-BE32-E72D297353CC}">
              <c16:uniqueId val="{00000053-0F36-7340-945E-930D095CBA33}"/>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16-09-2024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F439ED-1E90-4106-847A-8EF19031FE2F}" type="slidenum">
              <a:rPr lang="en-IN" smtClean="0"/>
              <a:t>5</a:t>
            </a:fld>
            <a:endParaRPr lang="en-IN"/>
          </a:p>
        </p:txBody>
      </p:sp>
    </p:spTree>
    <p:extLst>
      <p:ext uri="{BB962C8B-B14F-4D97-AF65-F5344CB8AC3E}">
        <p14:creationId xmlns:p14="http://schemas.microsoft.com/office/powerpoint/2010/main" val="859491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1D8BD707-D9CF-40AE-B4C6-C98DA3205C09}" type="datetimeFigureOut">
              <a:rPr lang="en-US" smtClean="0"/>
              <a:t>9/16/2024</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38100">
              <a:lnSpc>
                <a:spcPct val="100000"/>
              </a:lnSpc>
              <a:spcBef>
                <a:spcPts val="55"/>
              </a:spcBef>
            </a:pPr>
            <a:fld id="{81D60167-4931-47E6-BA6A-407CBD079E47}" type="slidenum">
              <a:rPr lang="en-IN" spc="10" smtClean="0"/>
              <a:t>‹#›</a:t>
            </a:fld>
            <a:endParaRPr lang="en-IN" spc="10"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98565733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257755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D8BD707-D9CF-40AE-B4C6-C98DA3205C09}" type="datetimeFigureOut">
              <a:rPr lang="en-US" smtClean="0"/>
              <a:t>9/16/2024</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38100">
              <a:lnSpc>
                <a:spcPct val="100000"/>
              </a:lnSpc>
              <a:spcBef>
                <a:spcPts val="55"/>
              </a:spcBef>
            </a:pPr>
            <a:fld id="{81D60167-4931-47E6-BA6A-407CBD079E47}" type="slidenum">
              <a:rPr lang="en-IN" spc="10" smtClean="0"/>
              <a:t>‹#›</a:t>
            </a:fld>
            <a:endParaRPr lang="en-IN" spc="10"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782989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3226761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9/16/2024</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348248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463414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9/16/2024</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3550034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D8BD707-D9CF-40AE-B4C6-C98DA3205C09}" type="datetimeFigureOut">
              <a:rPr lang="en-US" smtClean="0"/>
              <a:t>9/16/2024</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38100">
              <a:lnSpc>
                <a:spcPct val="100000"/>
              </a:lnSpc>
              <a:spcBef>
                <a:spcPts val="55"/>
              </a:spcBef>
            </a:pPr>
            <a:fld id="{81D60167-4931-47E6-BA6A-407CBD079E47}" type="slidenum">
              <a:rPr lang="en-IN" spc="10" smtClean="0"/>
              <a:t>‹#›</a:t>
            </a:fld>
            <a:endParaRPr lang="en-IN" spc="10"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5270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D8BD707-D9CF-40AE-B4C6-C98DA3205C09}" type="datetimeFigureOut">
              <a:rPr lang="en-US" smtClean="0"/>
              <a:t>9/16/2024</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38100">
              <a:lnSpc>
                <a:spcPct val="100000"/>
              </a:lnSpc>
              <a:spcBef>
                <a:spcPts val="55"/>
              </a:spcBef>
            </a:pPr>
            <a:fld id="{81D60167-4931-47E6-BA6A-407CBD079E47}" type="slidenum">
              <a:rPr lang="en-IN" spc="10" smtClean="0"/>
              <a:t>‹#›</a:t>
            </a:fld>
            <a:endParaRPr lang="en-IN" spc="10"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3847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258306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a:lnSpc>
                <a:spcPct val="100000"/>
              </a:lnSpc>
              <a:spcBef>
                <a:spcPts val="55"/>
              </a:spcBef>
            </a:pPr>
            <a:fld id="{81D60167-4931-47E6-BA6A-407CBD079E47}" type="slidenum">
              <a:rPr lang="en-IN" spc="10" smtClean="0"/>
              <a:t>‹#›</a:t>
            </a:fld>
            <a:endParaRPr lang="en-IN" spc="10" dirty="0"/>
          </a:p>
        </p:txBody>
      </p:sp>
    </p:spTree>
    <p:extLst>
      <p:ext uri="{BB962C8B-B14F-4D97-AF65-F5344CB8AC3E}">
        <p14:creationId xmlns:p14="http://schemas.microsoft.com/office/powerpoint/2010/main" val="209350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extLst>
      <p:ext uri="{BB962C8B-B14F-4D97-AF65-F5344CB8AC3E}">
        <p14:creationId xmlns:p14="http://schemas.microsoft.com/office/powerpoint/2010/main" val="3202536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1D8BD707-D9CF-40AE-B4C6-C98DA3205C09}" type="datetimeFigureOut">
              <a:rPr lang="en-US" smtClean="0"/>
              <a:t>9/16/2024</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I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38100">
              <a:lnSpc>
                <a:spcPct val="100000"/>
              </a:lnSpc>
              <a:spcBef>
                <a:spcPts val="55"/>
              </a:spcBef>
            </a:pPr>
            <a:fld id="{81D60167-4931-47E6-BA6A-407CBD079E47}" type="slidenum">
              <a:rPr lang="en-IN" spc="10" smtClean="0"/>
              <a:t>‹#›</a:t>
            </a:fld>
            <a:endParaRPr lang="en-IN" spc="10"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7344758"/>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png" /><Relationship Id="rId1" Type="http://schemas.openxmlformats.org/officeDocument/2006/relationships/slideLayout" Target="../slideLayouts/slideLayout6.xml" /><Relationship Id="rId4" Type="http://schemas.openxmlformats.org/officeDocument/2006/relationships/image" Target="../media/image4.jp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2.xml" /><Relationship Id="rId1" Type="http://schemas.openxmlformats.org/officeDocument/2006/relationships/slideLayout" Target="../slideLayouts/slideLayout6.xml" /><Relationship Id="rId4" Type="http://schemas.openxmlformats.org/officeDocument/2006/relationships/image" Target="../media/image1.png" /></Relationships>
</file>

<file path=ppt/slides/_rels/slide6.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9.jpg" /><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2" Type="http://schemas.openxmlformats.org/officeDocument/2006/relationships/image" Target="../media/image10.jpg"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3" Type="http://schemas.openxmlformats.org/officeDocument/2006/relationships/chart" Target="../charts/chart1.xml" /><Relationship Id="rId2" Type="http://schemas.openxmlformats.org/officeDocument/2006/relationships/image" Target="../media/image11.png" /><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2" Type="http://schemas.openxmlformats.org/officeDocument/2006/relationships/chart" Target="../charts/chart2.xml"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676275" y="1753333"/>
            <a:ext cx="9677400" cy="459869"/>
          </a:xfrm>
          <a:prstGeom prst="rect">
            <a:avLst/>
          </a:prstGeom>
        </p:spPr>
        <p:txBody>
          <a:bodyPr vert="horz" wrap="square" lIns="0" tIns="16510" rIns="0" bIns="0" rtlCol="0">
            <a:spAutoFit/>
          </a:bodyPr>
          <a:lstStyle/>
          <a:p>
            <a:pPr marL="3213735">
              <a:spcBef>
                <a:spcPts val="130"/>
              </a:spcBef>
            </a:pPr>
            <a:r>
              <a:rPr lang="en-US" b="1" dirty="0">
                <a:solidFill>
                  <a:srgbClr val="0F0F0F"/>
                </a:solidFill>
                <a:latin typeface="Times New Roman" panose="02020603050405020304" pitchFamily="18" charset="0"/>
                <a:cs typeface="Times New Roman" panose="02020603050405020304" pitchFamily="18" charset="0"/>
              </a:rPr>
              <a:t>Employee Data Analysis using Excel</a:t>
            </a:r>
            <a:r>
              <a:rPr lang="en-US" b="1" i="0" dirty="0">
                <a:solidFill>
                  <a:srgbClr val="0F0F0F"/>
                </a:solidFill>
                <a:effectLst/>
                <a:latin typeface="Times New Roman" panose="02020603050405020304" pitchFamily="18" charset="0"/>
                <a:cs typeface="Times New Roman" panose="02020603050405020304" pitchFamily="18" charset="0"/>
              </a:rPr>
              <a:t> </a:t>
            </a:r>
            <a:endParaRPr spc="15" dirty="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4" name="TextBox 13">
            <a:extLst>
              <a:ext uri="{FF2B5EF4-FFF2-40B4-BE49-F238E27FC236}">
                <a16:creationId xmlns:a16="http://schemas.microsoft.com/office/drawing/2014/main" id="{D55ADE35-C35B-07C1-F5AA-C33B3DDB802E}"/>
              </a:ext>
            </a:extLst>
          </p:cNvPr>
          <p:cNvSpPr txBox="1"/>
          <p:nvPr/>
        </p:nvSpPr>
        <p:spPr>
          <a:xfrm>
            <a:off x="990600" y="3314150"/>
            <a:ext cx="8763000" cy="1569660"/>
          </a:xfrm>
          <a:prstGeom prst="rect">
            <a:avLst/>
          </a:prstGeom>
          <a:noFill/>
        </p:spPr>
        <p:txBody>
          <a:bodyPr wrap="square" rtlCol="0">
            <a:spAutoFit/>
          </a:bodyPr>
          <a:lstStyle/>
          <a:p>
            <a:r>
              <a:rPr lang="en-US" sz="2400" dirty="0"/>
              <a:t>STUDENT NAME: SUGANYA T</a:t>
            </a:r>
          </a:p>
          <a:p>
            <a:r>
              <a:rPr lang="en-US" sz="2400" dirty="0"/>
              <a:t>REGISTER NO:122202474</a:t>
            </a:r>
          </a:p>
          <a:p>
            <a:r>
              <a:rPr lang="en-US" sz="2400" dirty="0"/>
              <a:t>DEPARTMENT:B.COM (CORPORATE SECRETARYSHIP)</a:t>
            </a:r>
          </a:p>
          <a:p>
            <a:r>
              <a:rPr lang="en-US" sz="2400" dirty="0"/>
              <a:t>COLLEGE:</a:t>
            </a:r>
            <a:r>
              <a:rPr lang="en-US" sz="2000" dirty="0"/>
              <a:t>DR.MGR.JANAKI COLLEGE OF ARTS AND SCIENCE FOR WOMEN</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7448612" y="425285"/>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3167253" y="1576571"/>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000" spc="25" dirty="0"/>
              <a:t>TITLE</a:t>
            </a:r>
            <a:endParaRPr sz="4250" dirty="0"/>
          </a:p>
        </p:txBody>
      </p:sp>
      <p:sp>
        <p:nvSpPr>
          <p:cNvPr id="22" name="object 22"/>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3" name="TextBox 22">
            <a:extLst>
              <a:ext uri="{FF2B5EF4-FFF2-40B4-BE49-F238E27FC236}">
                <a16:creationId xmlns:a16="http://schemas.microsoft.com/office/drawing/2014/main" id="{F691EEC8-E83B-8506-163B-F39E906CCC0A}"/>
              </a:ext>
            </a:extLst>
          </p:cNvPr>
          <p:cNvSpPr txBox="1"/>
          <p:nvPr/>
        </p:nvSpPr>
        <p:spPr>
          <a:xfrm>
            <a:off x="1069916" y="2760455"/>
            <a:ext cx="8593228" cy="1446550"/>
          </a:xfrm>
          <a:prstGeom prst="rect">
            <a:avLst/>
          </a:prstGeom>
          <a:noFill/>
        </p:spPr>
        <p:txBody>
          <a:bodyPr wrap="square" rtlCol="0">
            <a:spAutoFit/>
          </a:bodyPr>
          <a:lstStyle/>
          <a:p>
            <a:r>
              <a:rPr lang="en-US" sz="4400" b="1" dirty="0">
                <a:solidFill>
                  <a:srgbClr val="0F0F0F"/>
                </a:solidFill>
                <a:latin typeface="Times New Roman" panose="02020603050405020304" pitchFamily="18" charset="0"/>
                <a:cs typeface="Times New Roman" panose="02020603050405020304" pitchFamily="18" charset="0"/>
              </a:rPr>
              <a:t>Employee Performance Analysis using Excel</a:t>
            </a:r>
            <a:endParaRPr lang="en-IN" sz="28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lang="en-US" dirty="0"/>
              <a:t>INDEX</a:t>
            </a:r>
            <a:endParaRPr dirty="0"/>
          </a:p>
        </p:txBody>
      </p:sp>
      <p:sp>
        <p:nvSpPr>
          <p:cNvPr id="22" name="object 22"/>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3970318"/>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Our Solution and Proposition</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Dataset Description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Discussion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sp>
        <p:nvSpPr>
          <p:cNvPr id="10" name="object 10"/>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TextBox 8">
            <a:extLst>
              <a:ext uri="{FF2B5EF4-FFF2-40B4-BE49-F238E27FC236}">
                <a16:creationId xmlns:a16="http://schemas.microsoft.com/office/drawing/2014/main" id="{4251EDFF-FCA2-FFC4-207D-F568487967DD}"/>
              </a:ext>
            </a:extLst>
          </p:cNvPr>
          <p:cNvSpPr txBox="1"/>
          <p:nvPr/>
        </p:nvSpPr>
        <p:spPr>
          <a:xfrm>
            <a:off x="869155" y="2019300"/>
            <a:ext cx="5566728" cy="1938992"/>
          </a:xfrm>
          <a:prstGeom prst="rect">
            <a:avLst/>
          </a:prstGeom>
          <a:noFill/>
        </p:spPr>
        <p:txBody>
          <a:bodyPr wrap="square" rtlCol="0">
            <a:spAutoFit/>
          </a:bodyPr>
          <a:lstStyle/>
          <a:p>
            <a:pPr marL="0" indent="0">
              <a:buNone/>
            </a:pPr>
            <a:r>
              <a:rPr lang="en-US" sz="2400" dirty="0"/>
              <a:t>A problem statement in performance analysis for employees  is a clear and concise description of a specific issue or opportunity for improvement related to an individual's performance</a:t>
            </a: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3"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dirty="0"/>
          </a:p>
        </p:txBody>
      </p:sp>
      <p:sp>
        <p:nvSpPr>
          <p:cNvPr id="10" name="object 10"/>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pic>
        <p:nvPicPr>
          <p:cNvPr id="8" name="object 8"/>
          <p:cNvPicPr/>
          <p:nvPr/>
        </p:nvPicPr>
        <p:blipFill>
          <a:blip r:embed="rId4" cstate="print"/>
          <a:stretch>
            <a:fillRect/>
          </a:stretch>
        </p:blipFill>
        <p:spPr>
          <a:xfrm>
            <a:off x="676275" y="6467475"/>
            <a:ext cx="2143125" cy="200025"/>
          </a:xfrm>
          <a:prstGeom prst="rect">
            <a:avLst/>
          </a:prstGeom>
        </p:spPr>
      </p:pic>
      <p:sp>
        <p:nvSpPr>
          <p:cNvPr id="12" name="TextBox 11">
            <a:extLst>
              <a:ext uri="{FF2B5EF4-FFF2-40B4-BE49-F238E27FC236}">
                <a16:creationId xmlns:a16="http://schemas.microsoft.com/office/drawing/2014/main" id="{8DC8A7D6-208C-365A-90AB-05E6690A3750}"/>
              </a:ext>
            </a:extLst>
          </p:cNvPr>
          <p:cNvSpPr txBox="1"/>
          <p:nvPr/>
        </p:nvSpPr>
        <p:spPr>
          <a:xfrm>
            <a:off x="818832" y="1752600"/>
            <a:ext cx="5105400" cy="3046988"/>
          </a:xfrm>
          <a:prstGeom prst="rect">
            <a:avLst/>
          </a:prstGeom>
          <a:noFill/>
        </p:spPr>
        <p:txBody>
          <a:bodyPr wrap="square" rtlCol="0">
            <a:spAutoFit/>
          </a:bodyPr>
          <a:lstStyle/>
          <a:p>
            <a:pPr marL="0" indent="0">
              <a:buNone/>
            </a:pPr>
            <a:r>
              <a:rPr lang="en-US" sz="2400" dirty="0"/>
              <a:t>Employee data analysis is a analyzing the performance of the employee by considering the Various factors like gender, performance level, Ratings , and their achievements. In order to Identify the trends and patterns of different category of  employees like high ,medium and 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3169602" y="492456"/>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dirty="0"/>
          </a:p>
        </p:txBody>
      </p:sp>
      <p:sp>
        <p:nvSpPr>
          <p:cNvPr id="8" name="object 8"/>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pic>
        <p:nvPicPr>
          <p:cNvPr id="6" name="object 6"/>
          <p:cNvPicPr/>
          <p:nvPr/>
        </p:nvPicPr>
        <p:blipFill>
          <a:blip r:embed="rId2" cstate="print"/>
          <a:stretch>
            <a:fillRect/>
          </a:stretch>
        </p:blipFill>
        <p:spPr>
          <a:xfrm>
            <a:off x="723900" y="6172200"/>
            <a:ext cx="2181225" cy="485775"/>
          </a:xfrm>
          <a:prstGeom prst="rect">
            <a:avLst/>
          </a:prstGeom>
        </p:spPr>
      </p:pic>
      <p:pic>
        <p:nvPicPr>
          <p:cNvPr id="9" name="Picture 8" descr="A diagram of a company structure&#10;&#10;Description automatically generated">
            <a:extLst>
              <a:ext uri="{FF2B5EF4-FFF2-40B4-BE49-F238E27FC236}">
                <a16:creationId xmlns:a16="http://schemas.microsoft.com/office/drawing/2014/main" id="{DFEFFF4A-4956-D1CD-E4CC-8B1C7550F8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371600"/>
            <a:ext cx="7086600" cy="45243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p>
        </p:txBody>
      </p:sp>
      <p:sp>
        <p:nvSpPr>
          <p:cNvPr id="9" name="object 9"/>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8" name="TextBox 7">
            <a:extLst>
              <a:ext uri="{FF2B5EF4-FFF2-40B4-BE49-F238E27FC236}">
                <a16:creationId xmlns:a16="http://schemas.microsoft.com/office/drawing/2014/main" id="{DBB345F8-2F4E-728E-0B78-D1B59826DB62}"/>
              </a:ext>
            </a:extLst>
          </p:cNvPr>
          <p:cNvSpPr txBox="1"/>
          <p:nvPr/>
        </p:nvSpPr>
        <p:spPr>
          <a:xfrm>
            <a:off x="2819401" y="2196898"/>
            <a:ext cx="8381999" cy="1754326"/>
          </a:xfrm>
          <a:prstGeom prst="rect">
            <a:avLst/>
          </a:prstGeom>
          <a:noFill/>
        </p:spPr>
        <p:txBody>
          <a:bodyPr wrap="square" rtlCol="0">
            <a:spAutoFit/>
          </a:bodyPr>
          <a:lstStyle/>
          <a:p>
            <a:endParaRPr lang="en-US" dirty="0"/>
          </a:p>
          <a:p>
            <a:r>
              <a:rPr lang="en-US" dirty="0"/>
              <a:t>CONDITIONAL FORMATTING : MISSING ON EXCEL </a:t>
            </a:r>
          </a:p>
          <a:p>
            <a:r>
              <a:rPr lang="en-US" dirty="0"/>
              <a:t>FILTER                                        : REMOVE BLACK SPACE IN EXIT DATA </a:t>
            </a:r>
          </a:p>
          <a:p>
            <a:r>
              <a:rPr lang="en-US" dirty="0"/>
              <a:t>FORMULA                                 : </a:t>
            </a:r>
            <a:r>
              <a:rPr lang="en-US" sz="1600" dirty="0"/>
              <a:t>USING FORMULA FOR FIND EMPLOYEE PERFORMANCE VALUE         </a:t>
            </a:r>
            <a:endParaRPr lang="en-US" sz="1400" dirty="0"/>
          </a:p>
          <a:p>
            <a:r>
              <a:rPr lang="en-US" dirty="0"/>
              <a:t>PIVOT TABLE                             : SUMMARY </a:t>
            </a:r>
          </a:p>
          <a:p>
            <a:r>
              <a:rPr lang="en-US" dirty="0"/>
              <a:t>GRAPH                                       :FOR DATA VISUALIZATION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a:xfrm>
            <a:off x="1295402" y="304800"/>
            <a:ext cx="9601196" cy="1303867"/>
          </a:xfrm>
        </p:spPr>
        <p:txBody>
          <a:bodyPr/>
          <a:lstStyle/>
          <a:p>
            <a:r>
              <a:rPr lang="en-IN" dirty="0"/>
              <a:t>Dataset Description</a:t>
            </a:r>
          </a:p>
        </p:txBody>
      </p:sp>
      <p:sp>
        <p:nvSpPr>
          <p:cNvPr id="3" name="TextBox 2">
            <a:extLst>
              <a:ext uri="{FF2B5EF4-FFF2-40B4-BE49-F238E27FC236}">
                <a16:creationId xmlns:a16="http://schemas.microsoft.com/office/drawing/2014/main" id="{2EF2B506-5B65-782F-2017-8D16CC810B7F}"/>
              </a:ext>
            </a:extLst>
          </p:cNvPr>
          <p:cNvSpPr txBox="1"/>
          <p:nvPr/>
        </p:nvSpPr>
        <p:spPr>
          <a:xfrm>
            <a:off x="685800" y="1470904"/>
            <a:ext cx="7321868" cy="1200329"/>
          </a:xfrm>
          <a:prstGeom prst="rect">
            <a:avLst/>
          </a:prstGeom>
          <a:noFill/>
        </p:spPr>
        <p:txBody>
          <a:bodyPr wrap="square" rtlCol="0">
            <a:spAutoFit/>
          </a:bodyPr>
          <a:lstStyle/>
          <a:p>
            <a:r>
              <a:rPr lang="en-US" sz="800" dirty="0"/>
              <a:t> </a:t>
            </a:r>
            <a:r>
              <a:rPr lang="en-US" sz="1800" dirty="0"/>
              <a:t>I have downloaded the employee data set from </a:t>
            </a:r>
            <a:r>
              <a:rPr lang="en-US" sz="1800" dirty="0" err="1"/>
              <a:t>kaggle</a:t>
            </a:r>
            <a:r>
              <a:rPr lang="en-US" sz="1800" dirty="0"/>
              <a:t>. In that data set it has 26 features is there, but I consider 10 features for performance analysis. The features are:</a:t>
            </a:r>
          </a:p>
          <a:p>
            <a:endParaRPr lang="en-US" dirty="0"/>
          </a:p>
        </p:txBody>
      </p:sp>
      <p:sp>
        <p:nvSpPr>
          <p:cNvPr id="4" name="TextBox 3">
            <a:extLst>
              <a:ext uri="{FF2B5EF4-FFF2-40B4-BE49-F238E27FC236}">
                <a16:creationId xmlns:a16="http://schemas.microsoft.com/office/drawing/2014/main" id="{70D46DE6-0819-BA91-044C-62B7A8244F04}"/>
              </a:ext>
            </a:extLst>
          </p:cNvPr>
          <p:cNvSpPr txBox="1"/>
          <p:nvPr/>
        </p:nvSpPr>
        <p:spPr>
          <a:xfrm>
            <a:off x="691662" y="2286000"/>
            <a:ext cx="10283666" cy="4208203"/>
          </a:xfrm>
          <a:prstGeom prst="rect">
            <a:avLst/>
          </a:prstGeom>
          <a:noFill/>
        </p:spPr>
        <p:txBody>
          <a:bodyPr wrap="square" rtlCol="0">
            <a:spAutoFit/>
          </a:bodyPr>
          <a:lstStyle/>
          <a:p>
            <a:pPr marL="342900" indent="-342900">
              <a:lnSpc>
                <a:spcPct val="150000"/>
              </a:lnSpc>
              <a:buFont typeface="+mj-lt"/>
              <a:buAutoNum type="arabicPeriod"/>
            </a:pPr>
            <a:r>
              <a:rPr lang="en-US" dirty="0"/>
              <a:t>EMPLOYEE ID</a:t>
            </a:r>
          </a:p>
          <a:p>
            <a:pPr marL="342900" indent="-342900">
              <a:lnSpc>
                <a:spcPct val="150000"/>
              </a:lnSpc>
              <a:buFont typeface="+mj-lt"/>
              <a:buAutoNum type="arabicPeriod"/>
            </a:pPr>
            <a:r>
              <a:rPr lang="en-US" dirty="0"/>
              <a:t>NAME</a:t>
            </a:r>
          </a:p>
          <a:p>
            <a:pPr marL="342900" indent="-342900">
              <a:lnSpc>
                <a:spcPct val="150000"/>
              </a:lnSpc>
              <a:buFont typeface="+mj-lt"/>
              <a:buAutoNum type="arabicPeriod"/>
            </a:pPr>
            <a:r>
              <a:rPr lang="en-US" dirty="0"/>
              <a:t>GENDER</a:t>
            </a:r>
          </a:p>
          <a:p>
            <a:pPr marL="342900" indent="-342900">
              <a:lnSpc>
                <a:spcPct val="150000"/>
              </a:lnSpc>
              <a:buFont typeface="+mj-lt"/>
              <a:buAutoNum type="arabicPeriod"/>
            </a:pPr>
            <a:r>
              <a:rPr lang="en-US" dirty="0"/>
              <a:t>DEPARTMENT</a:t>
            </a:r>
          </a:p>
          <a:p>
            <a:pPr marL="342900" indent="-342900">
              <a:lnSpc>
                <a:spcPct val="150000"/>
              </a:lnSpc>
              <a:buFont typeface="+mj-lt"/>
              <a:buAutoNum type="arabicPeriod"/>
            </a:pPr>
            <a:r>
              <a:rPr lang="en-US" dirty="0"/>
              <a:t>SALARY</a:t>
            </a:r>
          </a:p>
          <a:p>
            <a:pPr marL="342900" indent="-342900">
              <a:lnSpc>
                <a:spcPct val="150000"/>
              </a:lnSpc>
              <a:buFont typeface="+mj-lt"/>
              <a:buAutoNum type="arabicPeriod"/>
            </a:pPr>
            <a:r>
              <a:rPr lang="en-US" dirty="0"/>
              <a:t>START  DATE</a:t>
            </a:r>
          </a:p>
          <a:p>
            <a:pPr marL="342900" indent="-342900">
              <a:lnSpc>
                <a:spcPct val="150000"/>
              </a:lnSpc>
              <a:buFont typeface="+mj-lt"/>
              <a:buAutoNum type="arabicPeriod"/>
            </a:pPr>
            <a:r>
              <a:rPr lang="en-US" dirty="0"/>
              <a:t>EMPLOYEE CLASSIFICATION TYPE</a:t>
            </a:r>
          </a:p>
          <a:p>
            <a:pPr marL="342900" indent="-342900">
              <a:lnSpc>
                <a:spcPct val="150000"/>
              </a:lnSpc>
              <a:buFont typeface="+mj-lt"/>
              <a:buAutoNum type="arabicPeriod"/>
            </a:pPr>
            <a:r>
              <a:rPr lang="en-US" dirty="0"/>
              <a:t>PERFORMANCE SCORE</a:t>
            </a:r>
          </a:p>
          <a:p>
            <a:pPr marL="342900" indent="-342900">
              <a:lnSpc>
                <a:spcPct val="150000"/>
              </a:lnSpc>
              <a:buFont typeface="+mj-lt"/>
              <a:buAutoNum type="arabicPeriod"/>
            </a:pPr>
            <a:r>
              <a:rPr lang="en-US" dirty="0"/>
              <a:t>EMPLOYEE RATING</a:t>
            </a:r>
          </a:p>
          <a:p>
            <a:pPr marL="342900" indent="-342900">
              <a:lnSpc>
                <a:spcPct val="150000"/>
              </a:lnSpc>
              <a:buFont typeface="+mj-lt"/>
              <a:buAutoNum type="arabicPeriod"/>
            </a:pPr>
            <a:r>
              <a:rPr lang="en-US" dirty="0"/>
              <a:t>PERFORMANCE LEVEL</a:t>
            </a:r>
          </a:p>
        </p:txBody>
      </p:sp>
    </p:spTree>
    <p:extLst>
      <p:ext uri="{BB962C8B-B14F-4D97-AF65-F5344CB8AC3E}">
        <p14:creationId xmlns:p14="http://schemas.microsoft.com/office/powerpoint/2010/main" val="272066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610600" y="331088"/>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lang="en-US" sz="4250" spc="20" dirty="0"/>
              <a:t>"</a:t>
            </a:r>
            <a:r>
              <a:rPr sz="4250" spc="10" dirty="0"/>
              <a:t>WOW</a:t>
            </a:r>
            <a:r>
              <a:rPr lang="en-US" sz="4250" spc="10" dirty="0"/>
              <a:t>"</a:t>
            </a:r>
            <a:r>
              <a:rPr sz="4250" spc="85" dirty="0"/>
              <a:t> </a:t>
            </a:r>
            <a:r>
              <a:rPr sz="4250" spc="10" dirty="0"/>
              <a:t>IN</a:t>
            </a:r>
            <a:r>
              <a:rPr sz="4250" spc="-5" dirty="0"/>
              <a:t> </a:t>
            </a:r>
            <a:r>
              <a:rPr sz="4250" spc="15" dirty="0"/>
              <a:t>OUR</a:t>
            </a:r>
            <a:r>
              <a:rPr sz="4250" spc="-10" dirty="0"/>
              <a:t> </a:t>
            </a:r>
            <a:r>
              <a:rPr sz="4250" spc="20" dirty="0"/>
              <a:t>SOLUTION</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9</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4076700" y="1325634"/>
            <a:ext cx="4038600"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PERFORMANCE LEVEL  </a:t>
            </a:r>
          </a:p>
        </p:txBody>
      </p:sp>
      <p:sp>
        <p:nvSpPr>
          <p:cNvPr id="10" name="TextBox 9">
            <a:extLst>
              <a:ext uri="{FF2B5EF4-FFF2-40B4-BE49-F238E27FC236}">
                <a16:creationId xmlns:a16="http://schemas.microsoft.com/office/drawing/2014/main" id="{9A38B30A-1B8C-3078-3B79-33753E80FD92}"/>
              </a:ext>
            </a:extLst>
          </p:cNvPr>
          <p:cNvSpPr txBox="1"/>
          <p:nvPr/>
        </p:nvSpPr>
        <p:spPr>
          <a:xfrm>
            <a:off x="2895600" y="2514600"/>
            <a:ext cx="7086600" cy="369332"/>
          </a:xfrm>
          <a:prstGeom prst="rect">
            <a:avLst/>
          </a:prstGeom>
          <a:noFill/>
        </p:spPr>
        <p:txBody>
          <a:bodyPr wrap="square" rtlCol="0">
            <a:spAutoFit/>
          </a:bodyPr>
          <a:lstStyle/>
          <a:p>
            <a:r>
              <a:rPr lang="en-US" dirty="0"/>
              <a:t>=IFS(Z8&gt;=5,"VERY HIGH",28&gt;=4,"HIGH" 28&gt;=3,"MED", TRUE, "LOW")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2437130"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graphicFrame>
        <p:nvGraphicFramePr>
          <p:cNvPr id="2" name="Chart 1">
            <a:extLst>
              <a:ext uri="{FF2B5EF4-FFF2-40B4-BE49-F238E27FC236}">
                <a16:creationId xmlns:a16="http://schemas.microsoft.com/office/drawing/2014/main" id="{CC1DA168-12D5-5A9A-94DA-498011597C1C}"/>
              </a:ext>
            </a:extLst>
          </p:cNvPr>
          <p:cNvGraphicFramePr>
            <a:graphicFrameLocks/>
          </p:cNvGraphicFramePr>
          <p:nvPr>
            <p:extLst>
              <p:ext uri="{D42A27DB-BD31-4B8C-83A1-F6EECF244321}">
                <p14:modId xmlns:p14="http://schemas.microsoft.com/office/powerpoint/2010/main" val="3901545571"/>
              </p:ext>
            </p:extLst>
          </p:nvPr>
        </p:nvGraphicFramePr>
        <p:xfrm>
          <a:off x="914401" y="1371600"/>
          <a:ext cx="9067800" cy="509587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5CB5B-BDD0-5A64-1A7C-37D3C88F8F9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graphicFrame>
        <p:nvGraphicFramePr>
          <p:cNvPr id="3" name="Chart 2">
            <a:extLst>
              <a:ext uri="{FF2B5EF4-FFF2-40B4-BE49-F238E27FC236}">
                <a16:creationId xmlns:a16="http://schemas.microsoft.com/office/drawing/2014/main" id="{A34739B5-5EE5-3920-1648-175F33E9477D}"/>
              </a:ext>
            </a:extLst>
          </p:cNvPr>
          <p:cNvGraphicFramePr>
            <a:graphicFrameLocks/>
          </p:cNvGraphicFramePr>
          <p:nvPr>
            <p:extLst>
              <p:ext uri="{D42A27DB-BD31-4B8C-83A1-F6EECF244321}">
                <p14:modId xmlns:p14="http://schemas.microsoft.com/office/powerpoint/2010/main" val="2944332915"/>
              </p:ext>
            </p:extLst>
          </p:nvPr>
        </p:nvGraphicFramePr>
        <p:xfrm>
          <a:off x="2057400" y="1219200"/>
          <a:ext cx="6324600" cy="25908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108F59C-E2EF-A43A-B064-EB272220226C}"/>
              </a:ext>
            </a:extLst>
          </p:cNvPr>
          <p:cNvSpPr txBox="1"/>
          <p:nvPr/>
        </p:nvSpPr>
        <p:spPr>
          <a:xfrm>
            <a:off x="609600" y="4572000"/>
            <a:ext cx="9074468" cy="1200329"/>
          </a:xfrm>
          <a:prstGeom prst="rect">
            <a:avLst/>
          </a:prstGeom>
          <a:noFill/>
        </p:spPr>
        <p:txBody>
          <a:bodyPr wrap="square" rtlCol="0">
            <a:spAutoFit/>
          </a:bodyPr>
          <a:lstStyle/>
          <a:p>
            <a:r>
              <a:rPr lang="en-US" dirty="0"/>
              <a:t>By comparing the performances of the employee, the numbers of employees are higher in number with low performances employee in training department. We need to motive  the employee to improve the performances in the organization and to improve their skills for better outcome.</a:t>
            </a:r>
          </a:p>
        </p:txBody>
      </p:sp>
    </p:spTree>
    <p:extLst>
      <p:ext uri="{BB962C8B-B14F-4D97-AF65-F5344CB8AC3E}">
        <p14:creationId xmlns:p14="http://schemas.microsoft.com/office/powerpoint/2010/main" val="298644229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3097</TotalTime>
  <Words>343</Words>
  <Application>Microsoft Office PowerPoint</Application>
  <PresentationFormat>Widescreen</PresentationFormat>
  <Paragraphs>61</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Crop</vt:lpstr>
      <vt:lpstr>Employee Data Analysis using Excel </vt:lpstr>
      <vt:lpstr>PROJECT TITLE</vt:lpstr>
      <vt:lpstr>INDEX</vt:lpstr>
      <vt:lpstr>PROBLEM STATEMENT</vt:lpstr>
      <vt:lpstr>PROJECT OVERVIEW</vt:lpstr>
      <vt:lpstr>WHO ARE THE END USERS?</vt:lpstr>
      <vt:lpstr>OUR SOLUTION AND ITS VALUE PROPOSITION</vt:lpstr>
      <vt:lpstr>Dataset Description</vt:lpstr>
      <vt:lpstr>THE "WOW" IN OUR SOLUTION</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Suganya Raja</cp:lastModifiedBy>
  <cp:revision>22</cp:revision>
  <dcterms:created xsi:type="dcterms:W3CDTF">2024-03-29T15:07:22Z</dcterms:created>
  <dcterms:modified xsi:type="dcterms:W3CDTF">2024-09-16T05:20:30Z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